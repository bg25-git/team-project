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0"/>
  </p:notesMasterIdLst>
  <p:handoutMasterIdLst>
    <p:handoutMasterId r:id="rId11"/>
  </p:handoutMasterIdLst>
  <p:sldIdLst>
    <p:sldId id="289" r:id="rId5"/>
    <p:sldId id="340" r:id="rId6"/>
    <p:sldId id="329" r:id="rId7"/>
    <p:sldId id="336" r:id="rId8"/>
    <p:sldId id="34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3" d="100"/>
          <a:sy n="73" d="100"/>
        </p:scale>
        <p:origin x="380" y="44"/>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ja kondru" userId="f6efbf27ecea2e5f" providerId="LiveId" clId="{39051807-6E97-4B8A-85A2-260E8A93CA1C}"/>
    <pc:docChg chg="undo custSel modSld">
      <pc:chgData name="srija kondru" userId="f6efbf27ecea2e5f" providerId="LiveId" clId="{39051807-6E97-4B8A-85A2-260E8A93CA1C}" dt="2025-11-24T13:50:00.530" v="127" actId="255"/>
      <pc:docMkLst>
        <pc:docMk/>
      </pc:docMkLst>
      <pc:sldChg chg="modSp mod">
        <pc:chgData name="srija kondru" userId="f6efbf27ecea2e5f" providerId="LiveId" clId="{39051807-6E97-4B8A-85A2-260E8A93CA1C}" dt="2025-11-24T13:35:09.066" v="119" actId="255"/>
        <pc:sldMkLst>
          <pc:docMk/>
          <pc:sldMk cId="1718004908" sldId="329"/>
        </pc:sldMkLst>
        <pc:spChg chg="mod">
          <ac:chgData name="srija kondru" userId="f6efbf27ecea2e5f" providerId="LiveId" clId="{39051807-6E97-4B8A-85A2-260E8A93CA1C}" dt="2025-11-24T13:34:22.187" v="114" actId="1076"/>
          <ac:spMkLst>
            <pc:docMk/>
            <pc:sldMk cId="1718004908" sldId="329"/>
            <ac:spMk id="3" creationId="{00EBC183-8AA5-EC44-9987-D65F5C1892A1}"/>
          </ac:spMkLst>
        </pc:spChg>
        <pc:spChg chg="mod">
          <ac:chgData name="srija kondru" userId="f6efbf27ecea2e5f" providerId="LiveId" clId="{39051807-6E97-4B8A-85A2-260E8A93CA1C}" dt="2025-11-24T13:35:09.066" v="119" actId="255"/>
          <ac:spMkLst>
            <pc:docMk/>
            <pc:sldMk cId="1718004908" sldId="329"/>
            <ac:spMk id="5" creationId="{B3FA3829-F12C-214D-8FBA-7E1A740F65CA}"/>
          </ac:spMkLst>
        </pc:spChg>
      </pc:sldChg>
      <pc:sldChg chg="modSp mod">
        <pc:chgData name="srija kondru" userId="f6efbf27ecea2e5f" providerId="LiveId" clId="{39051807-6E97-4B8A-85A2-260E8A93CA1C}" dt="2025-11-24T13:50:00.530" v="127" actId="255"/>
        <pc:sldMkLst>
          <pc:docMk/>
          <pc:sldMk cId="32494612" sldId="336"/>
        </pc:sldMkLst>
        <pc:spChg chg="mod">
          <ac:chgData name="srija kondru" userId="f6efbf27ecea2e5f" providerId="LiveId" clId="{39051807-6E97-4B8A-85A2-260E8A93CA1C}" dt="2025-11-24T13:50:00.530" v="127" actId="255"/>
          <ac:spMkLst>
            <pc:docMk/>
            <pc:sldMk cId="32494612" sldId="336"/>
            <ac:spMk id="5" creationId="{3440DA25-F620-152B-DE9E-776F7B74DFF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24/11/2025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24/11/2025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Before specifying your Research Question you must define the type of data you are analysing.  Are the variables you select interval data (measurement data you can divide, multiple, etc),  OR are they ordinal (there is a definite order but the intervals between each variable are not necessarily equal, or the terms might be subjective like in a </a:t>
            </a:r>
            <a:r>
              <a:rPr lang="en-GB" err="1"/>
              <a:t>likert</a:t>
            </a:r>
            <a:r>
              <a:rPr lang="en-GB"/>
              <a:t> scale); OR are they just categorical/nominal (Items such as film names, cities, etc., that you can count numbers of occurrences?   You also need to understand whether the variable is either dependent or independent and this will vary according to the context. Independent variables may cause an effect, whereas the dependent variable might be effected by the independent variable.  Check the lecture notes on the RQ for more information and examples.  </a:t>
            </a:r>
          </a:p>
          <a:p>
            <a:endParaRPr lang="en-GB"/>
          </a:p>
          <a:p>
            <a:r>
              <a:rPr lang="en-GB"/>
              <a:t>You will get only one opportunity to present your Research Question ahead of the submission date.  Have your questions ready, and be ready to take notes on feedback.</a:t>
            </a:r>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herts.instructure.com/groups/149809/users/305838" TargetMode="External"/><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hyperlink" Target="https://herts.instructure.com/groups/149809/users/312046" TargetMode="External"/><Relationship Id="rId4" Type="http://schemas.openxmlformats.org/officeDocument/2006/relationships/hyperlink" Target="https://herts.instructure.com/groups/149809/users/306040"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24 – 11-2025</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dirty="0"/>
              <a:t>Group Name:      B 167                                       Name of Student Presenting: Kondru Sai Sreeja</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B 167              Names of Student Attendees : </a:t>
            </a:r>
            <a:r>
              <a:rPr lang="en-US" dirty="0">
                <a:hlinkClick r:id="rId3"/>
              </a:rPr>
              <a:t>Balaji Gopalakrishnan</a:t>
            </a:r>
            <a:r>
              <a:rPr lang="en-US" dirty="0"/>
              <a:t> , </a:t>
            </a:r>
            <a:r>
              <a:rPr lang="en-US" dirty="0">
                <a:hlinkClick r:id="rId4"/>
              </a:rPr>
              <a:t>Sandeep Kumar</a:t>
            </a:r>
            <a:r>
              <a:rPr lang="en-US" dirty="0"/>
              <a:t>, </a:t>
            </a:r>
            <a:r>
              <a:rPr lang="en-US" dirty="0">
                <a:hlinkClick r:id="rId5"/>
              </a:rPr>
              <a:t>Sai Sreeja Kondru</a:t>
            </a:r>
            <a:endParaRPr lang="en-US" dirty="0"/>
          </a:p>
          <a:p>
            <a:r>
              <a:rPr lang="en-GB" dirty="0"/>
              <a:t> </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a:solidFill>
                  <a:srgbClr val="203232"/>
                </a:solidFill>
                <a:cs typeface="Arial"/>
              </a:rPr>
              <a:t>Here is a sample of our dataset: </a:t>
            </a:r>
            <a:endParaRPr lang="en-GB" sz="180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B 167</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964884" y="1942012"/>
            <a:ext cx="9965844" cy="2797704"/>
          </a:xfrm>
        </p:spPr>
        <p:txBody>
          <a:bodyPr>
            <a:normAutofit fontScale="90000"/>
          </a:bodyPr>
          <a:lstStyle/>
          <a:p>
            <a:pPr marL="742950" indent="-742950">
              <a:lnSpc>
                <a:spcPts val="2880"/>
              </a:lnSpc>
              <a:spcBef>
                <a:spcPts val="0"/>
              </a:spcBef>
              <a:spcAft>
                <a:spcPts val="992"/>
              </a:spcAft>
              <a:buAutoNum type="arabicPeriod"/>
            </a:pPr>
            <a:r>
              <a:rPr lang="en-US" sz="2700" dirty="0"/>
              <a:t>State, Poverty Percent are the columns that we chose</a:t>
            </a:r>
            <a:r>
              <a:rPr lang="en-GB" sz="3600" dirty="0">
                <a:solidFill>
                  <a:srgbClr val="FF0000"/>
                </a:solidFill>
                <a:cs typeface="Arial"/>
              </a:rPr>
              <a:t>.</a:t>
            </a:r>
            <a:endParaRPr lang="en-US" sz="3600" b="0" dirty="0">
              <a:solidFill>
                <a:srgbClr val="FF0000"/>
              </a:solidFill>
              <a:cs typeface="Arial"/>
            </a:endParaRPr>
          </a:p>
          <a:p>
            <a:pPr marL="742950" indent="-742950">
              <a:lnSpc>
                <a:spcPts val="2880"/>
              </a:lnSpc>
              <a:spcBef>
                <a:spcPts val="0"/>
              </a:spcBef>
              <a:spcAft>
                <a:spcPts val="992"/>
              </a:spcAft>
              <a:buAutoNum type="arabicPeriod"/>
            </a:pPr>
            <a:r>
              <a:rPr lang="en-GB" sz="2700" dirty="0">
                <a:solidFill>
                  <a:srgbClr val="FF0000"/>
                </a:solidFill>
                <a:cs typeface="Arial"/>
              </a:rPr>
              <a:t>5 rows of the data</a:t>
            </a:r>
            <a:br>
              <a:rPr lang="en-GB" sz="3600" dirty="0">
                <a:solidFill>
                  <a:srgbClr val="FF0000"/>
                </a:solidFill>
                <a:cs typeface="Arial"/>
              </a:rPr>
            </a:br>
            <a:br>
              <a:rPr lang="en-GB" sz="3600" dirty="0">
                <a:solidFill>
                  <a:srgbClr val="FF0000"/>
                </a:solidFill>
                <a:cs typeface="Arial"/>
              </a:rPr>
            </a:br>
            <a:br>
              <a:rPr lang="en-GB" sz="3600" dirty="0">
                <a:solidFill>
                  <a:srgbClr val="FF0000"/>
                </a:solidFill>
                <a:cs typeface="Arial"/>
              </a:rPr>
            </a:br>
            <a:br>
              <a:rPr lang="en-GB" sz="3600" dirty="0">
                <a:solidFill>
                  <a:srgbClr val="FF0000"/>
                </a:solidFill>
                <a:cs typeface="Arial"/>
              </a:rPr>
            </a:br>
            <a:br>
              <a:rPr lang="en-GB" sz="3600" dirty="0">
                <a:solidFill>
                  <a:srgbClr val="FF0000"/>
                </a:solidFill>
                <a:cs typeface="Arial"/>
              </a:rPr>
            </a:br>
            <a:br>
              <a:rPr lang="en-GB" sz="3600" dirty="0">
                <a:solidFill>
                  <a:srgbClr val="FF0000"/>
                </a:solidFill>
                <a:cs typeface="Arial"/>
              </a:rPr>
            </a:br>
            <a:endParaRPr lang="en-US" sz="3600" b="0" dirty="0">
              <a:solidFill>
                <a:srgbClr val="FF0000"/>
              </a:solidFill>
              <a:cs typeface="Arial"/>
            </a:endParaRPr>
          </a:p>
          <a:p>
            <a:pPr marL="742950" indent="-742950">
              <a:lnSpc>
                <a:spcPts val="2880"/>
              </a:lnSpc>
              <a:spcBef>
                <a:spcPts val="0"/>
              </a:spcBef>
              <a:spcAft>
                <a:spcPts val="992"/>
              </a:spcAft>
              <a:buAutoNum type="arabicPeriod"/>
            </a:pPr>
            <a:r>
              <a:rPr lang="en-GB" sz="2700" dirty="0">
                <a:solidFill>
                  <a:srgbClr val="FF0000"/>
                </a:solidFill>
                <a:cs typeface="Arial"/>
              </a:rPr>
              <a:t>53 Obs. of 30 variables.</a:t>
            </a:r>
            <a:br>
              <a:rPr lang="en-GB" sz="2700" dirty="0">
                <a:solidFill>
                  <a:srgbClr val="FF0000"/>
                </a:solidFill>
                <a:cs typeface="Arial"/>
              </a:rPr>
            </a:br>
            <a:endParaRPr lang="en-GB" sz="2700" dirty="0">
              <a:solidFill>
                <a:srgbClr val="FF0000"/>
              </a:solidFill>
              <a:cs typeface="Arial"/>
            </a:endParaRPr>
          </a:p>
          <a:p>
            <a:br>
              <a:rPr lang="en-US" dirty="0">
                <a:solidFill>
                  <a:srgbClr val="FF0000"/>
                </a:solidFill>
                <a:cs typeface="Arial"/>
              </a:rPr>
            </a:br>
            <a:endParaRPr lang="en-US" dirty="0">
              <a:solidFill>
                <a:srgbClr val="FF0000"/>
              </a:solidFill>
              <a:cs typeface="Arial"/>
            </a:endParaRPr>
          </a:p>
        </p:txBody>
      </p:sp>
      <p:graphicFrame>
        <p:nvGraphicFramePr>
          <p:cNvPr id="5" name="Table 4">
            <a:extLst>
              <a:ext uri="{FF2B5EF4-FFF2-40B4-BE49-F238E27FC236}">
                <a16:creationId xmlns:a16="http://schemas.microsoft.com/office/drawing/2014/main" id="{A2B2C41E-FD29-AEF6-ED36-E042E1CA5252}"/>
              </a:ext>
            </a:extLst>
          </p:cNvPr>
          <p:cNvGraphicFramePr>
            <a:graphicFrameLocks noGrp="1"/>
          </p:cNvGraphicFramePr>
          <p:nvPr>
            <p:extLst>
              <p:ext uri="{D42A27DB-BD31-4B8C-83A1-F6EECF244321}">
                <p14:modId xmlns:p14="http://schemas.microsoft.com/office/powerpoint/2010/main" val="3293743017"/>
              </p:ext>
            </p:extLst>
          </p:nvPr>
        </p:nvGraphicFramePr>
        <p:xfrm>
          <a:off x="992777" y="2944835"/>
          <a:ext cx="9495599" cy="2088718"/>
        </p:xfrm>
        <a:graphic>
          <a:graphicData uri="http://schemas.openxmlformats.org/drawingml/2006/table">
            <a:tbl>
              <a:tblPr firstRow="1" bandRow="1">
                <a:tableStyleId>{5C22544A-7EE6-4342-B048-85BDC9FD1C3A}</a:tableStyleId>
              </a:tblPr>
              <a:tblGrid>
                <a:gridCol w="1021080">
                  <a:extLst>
                    <a:ext uri="{9D8B030D-6E8A-4147-A177-3AD203B41FA5}">
                      <a16:colId xmlns:a16="http://schemas.microsoft.com/office/drawing/2014/main" val="721877157"/>
                    </a:ext>
                  </a:extLst>
                </a:gridCol>
                <a:gridCol w="1862651">
                  <a:extLst>
                    <a:ext uri="{9D8B030D-6E8A-4147-A177-3AD203B41FA5}">
                      <a16:colId xmlns:a16="http://schemas.microsoft.com/office/drawing/2014/main" val="500395216"/>
                    </a:ext>
                  </a:extLst>
                </a:gridCol>
                <a:gridCol w="2203956">
                  <a:extLst>
                    <a:ext uri="{9D8B030D-6E8A-4147-A177-3AD203B41FA5}">
                      <a16:colId xmlns:a16="http://schemas.microsoft.com/office/drawing/2014/main" val="1206649543"/>
                    </a:ext>
                  </a:extLst>
                </a:gridCol>
                <a:gridCol w="2203956">
                  <a:extLst>
                    <a:ext uri="{9D8B030D-6E8A-4147-A177-3AD203B41FA5}">
                      <a16:colId xmlns:a16="http://schemas.microsoft.com/office/drawing/2014/main" val="2451291577"/>
                    </a:ext>
                  </a:extLst>
                </a:gridCol>
                <a:gridCol w="2203956">
                  <a:extLst>
                    <a:ext uri="{9D8B030D-6E8A-4147-A177-3AD203B41FA5}">
                      <a16:colId xmlns:a16="http://schemas.microsoft.com/office/drawing/2014/main" val="2626549546"/>
                    </a:ext>
                  </a:extLst>
                </a:gridCol>
              </a:tblGrid>
              <a:tr h="737078">
                <a:tc>
                  <a:txBody>
                    <a:bodyPr/>
                    <a:lstStyle/>
                    <a:p>
                      <a:pPr>
                        <a:buNone/>
                      </a:pPr>
                      <a:r>
                        <a:rPr lang="en-US" sz="1050" b="1" dirty="0"/>
                        <a:t>State</a:t>
                      </a:r>
                    </a:p>
                  </a:txBody>
                  <a:tcPr anchor="ctr"/>
                </a:tc>
                <a:tc>
                  <a:txBody>
                    <a:bodyPr/>
                    <a:lstStyle/>
                    <a:p>
                      <a:pPr algn="l" fontAlgn="b">
                        <a:buNone/>
                      </a:pPr>
                      <a:r>
                        <a:rPr lang="en-US" sz="1050" b="1" i="0" u="none" strike="noStrike" dirty="0">
                          <a:solidFill>
                            <a:schemeClr val="bg2"/>
                          </a:solidFill>
                          <a:effectLst/>
                          <a:latin typeface="Calibri" panose="020F0502020204030204" pitchFamily="34" charset="0"/>
                        </a:rPr>
                        <a:t>  Poverty Estimate, All Ages</a:t>
                      </a:r>
                    </a:p>
                  </a:txBody>
                  <a:tcPr marL="6350" marR="6350" marT="6350" marB="0" anchor="ctr"/>
                </a:tc>
                <a:tc>
                  <a:txBody>
                    <a:bodyPr/>
                    <a:lstStyle/>
                    <a:p>
                      <a:pPr algn="l" fontAlgn="b">
                        <a:buNone/>
                      </a:pPr>
                      <a:r>
                        <a:rPr lang="en-US" sz="1050" b="1" i="0" u="none" strike="noStrike" dirty="0">
                          <a:solidFill>
                            <a:schemeClr val="bg2"/>
                          </a:solidFill>
                          <a:effectLst/>
                          <a:latin typeface="Calibri" panose="020F0502020204030204" pitchFamily="34" charset="0"/>
                        </a:rPr>
                        <a:t>  90% CI Lower Bound</a:t>
                      </a:r>
                    </a:p>
                  </a:txBody>
                  <a:tcPr marL="6350" marR="6350" marT="6350" marB="0" anchor="ctr"/>
                </a:tc>
                <a:tc>
                  <a:txBody>
                    <a:bodyPr/>
                    <a:lstStyle/>
                    <a:p>
                      <a:pPr algn="l" fontAlgn="b">
                        <a:buNone/>
                      </a:pPr>
                      <a:r>
                        <a:rPr lang="en-US" sz="1050" b="1" i="0" u="none" strike="noStrike" dirty="0">
                          <a:solidFill>
                            <a:schemeClr val="bg2"/>
                          </a:solidFill>
                          <a:effectLst/>
                          <a:latin typeface="Calibri" panose="020F0502020204030204" pitchFamily="34" charset="0"/>
                        </a:rPr>
                        <a:t>  90% CI Upper Bound</a:t>
                      </a:r>
                    </a:p>
                  </a:txBody>
                  <a:tcPr marL="6350" marR="6350" marT="6350" marB="0" anchor="ctr"/>
                </a:tc>
                <a:tc>
                  <a:txBody>
                    <a:bodyPr/>
                    <a:lstStyle/>
                    <a:p>
                      <a:pPr algn="l" fontAlgn="b">
                        <a:buNone/>
                      </a:pPr>
                      <a:r>
                        <a:rPr lang="en-US" sz="1050" b="1" i="0" u="none" strike="noStrike" dirty="0">
                          <a:solidFill>
                            <a:schemeClr val="bg2"/>
                          </a:solidFill>
                          <a:effectLst/>
                          <a:latin typeface="Calibri" panose="020F0502020204030204" pitchFamily="34" charset="0"/>
                        </a:rPr>
                        <a:t>  Poverty Percent, All Ages</a:t>
                      </a:r>
                    </a:p>
                  </a:txBody>
                  <a:tcPr marL="6350" marR="6350" marT="6350" marB="0" anchor="ctr"/>
                </a:tc>
                <a:extLst>
                  <a:ext uri="{0D108BD9-81ED-4DB2-BD59-A6C34878D82A}">
                    <a16:rowId xmlns:a16="http://schemas.microsoft.com/office/drawing/2014/main" val="4186586319"/>
                  </a:ext>
                </a:extLst>
              </a:tr>
              <a:tr h="270328">
                <a:tc>
                  <a:txBody>
                    <a:bodyPr/>
                    <a:lstStyle/>
                    <a:p>
                      <a:pPr>
                        <a:buNone/>
                      </a:pPr>
                      <a:r>
                        <a:rPr lang="en-US" sz="1050" dirty="0"/>
                        <a:t>United States</a:t>
                      </a:r>
                    </a:p>
                  </a:txBody>
                  <a:tcPr anchor="ctr"/>
                </a:tc>
                <a:tc>
                  <a:txBody>
                    <a:bodyPr/>
                    <a:lstStyle/>
                    <a:p>
                      <a:pPr>
                        <a:buNone/>
                      </a:pPr>
                      <a:r>
                        <a:rPr lang="en-US" sz="1050"/>
                        <a:t>48810868</a:t>
                      </a:r>
                    </a:p>
                  </a:txBody>
                  <a:tcPr anchor="ctr"/>
                </a:tc>
                <a:tc>
                  <a:txBody>
                    <a:bodyPr/>
                    <a:lstStyle/>
                    <a:p>
                      <a:pPr>
                        <a:buNone/>
                      </a:pPr>
                      <a:r>
                        <a:rPr lang="en-US" sz="1050"/>
                        <a:t>48554692</a:t>
                      </a:r>
                    </a:p>
                  </a:txBody>
                  <a:tcPr anchor="ctr"/>
                </a:tc>
                <a:tc>
                  <a:txBody>
                    <a:bodyPr/>
                    <a:lstStyle/>
                    <a:p>
                      <a:pPr>
                        <a:buNone/>
                      </a:pPr>
                      <a:r>
                        <a:rPr lang="en-US" sz="1050" dirty="0"/>
                        <a:t>49067044</a:t>
                      </a:r>
                    </a:p>
                  </a:txBody>
                  <a:tcPr anchor="ctr"/>
                </a:tc>
                <a:tc>
                  <a:txBody>
                    <a:bodyPr/>
                    <a:lstStyle/>
                    <a:p>
                      <a:pPr>
                        <a:buNone/>
                      </a:pPr>
                      <a:r>
                        <a:rPr lang="en-US" sz="1050" dirty="0"/>
                        <a:t>15.8</a:t>
                      </a:r>
                    </a:p>
                  </a:txBody>
                  <a:tcPr anchor="ctr"/>
                </a:tc>
                <a:extLst>
                  <a:ext uri="{0D108BD9-81ED-4DB2-BD59-A6C34878D82A}">
                    <a16:rowId xmlns:a16="http://schemas.microsoft.com/office/drawing/2014/main" val="2552010386"/>
                  </a:ext>
                </a:extLst>
              </a:tr>
              <a:tr h="270328">
                <a:tc>
                  <a:txBody>
                    <a:bodyPr/>
                    <a:lstStyle/>
                    <a:p>
                      <a:pPr>
                        <a:buNone/>
                      </a:pPr>
                      <a:r>
                        <a:rPr lang="en-US" sz="1050" dirty="0"/>
                        <a:t>Alabama</a:t>
                      </a:r>
                    </a:p>
                  </a:txBody>
                  <a:tcPr anchor="ctr"/>
                </a:tc>
                <a:tc>
                  <a:txBody>
                    <a:bodyPr/>
                    <a:lstStyle/>
                    <a:p>
                      <a:pPr>
                        <a:buNone/>
                      </a:pPr>
                      <a:r>
                        <a:rPr lang="en-US" sz="1050" dirty="0"/>
                        <a:t>889091</a:t>
                      </a:r>
                    </a:p>
                  </a:txBody>
                  <a:tcPr anchor="ctr"/>
                </a:tc>
                <a:tc>
                  <a:txBody>
                    <a:bodyPr/>
                    <a:lstStyle/>
                    <a:p>
                      <a:pPr>
                        <a:buNone/>
                      </a:pPr>
                      <a:r>
                        <a:rPr lang="en-US" sz="1050" dirty="0"/>
                        <a:t>873141</a:t>
                      </a:r>
                    </a:p>
                  </a:txBody>
                  <a:tcPr anchor="ctr"/>
                </a:tc>
                <a:tc>
                  <a:txBody>
                    <a:bodyPr/>
                    <a:lstStyle/>
                    <a:p>
                      <a:pPr>
                        <a:buNone/>
                      </a:pPr>
                      <a:r>
                        <a:rPr lang="en-US" sz="1050" dirty="0"/>
                        <a:t>905041</a:t>
                      </a:r>
                    </a:p>
                  </a:txBody>
                  <a:tcPr anchor="ctr"/>
                </a:tc>
                <a:tc>
                  <a:txBody>
                    <a:bodyPr/>
                    <a:lstStyle/>
                    <a:p>
                      <a:pPr>
                        <a:buNone/>
                      </a:pPr>
                      <a:r>
                        <a:rPr lang="en-US" sz="1050" dirty="0"/>
                        <a:t>18.6</a:t>
                      </a:r>
                    </a:p>
                  </a:txBody>
                  <a:tcPr anchor="ctr"/>
                </a:tc>
                <a:extLst>
                  <a:ext uri="{0D108BD9-81ED-4DB2-BD59-A6C34878D82A}">
                    <a16:rowId xmlns:a16="http://schemas.microsoft.com/office/drawing/2014/main" val="828232441"/>
                  </a:ext>
                </a:extLst>
              </a:tr>
              <a:tr h="270328">
                <a:tc>
                  <a:txBody>
                    <a:bodyPr/>
                    <a:lstStyle/>
                    <a:p>
                      <a:pPr>
                        <a:buNone/>
                      </a:pPr>
                      <a:r>
                        <a:rPr lang="en-US" sz="1050" dirty="0"/>
                        <a:t>Alaska</a:t>
                      </a:r>
                    </a:p>
                  </a:txBody>
                  <a:tcPr anchor="ctr"/>
                </a:tc>
                <a:tc>
                  <a:txBody>
                    <a:bodyPr/>
                    <a:lstStyle/>
                    <a:p>
                      <a:pPr>
                        <a:buNone/>
                      </a:pPr>
                      <a:r>
                        <a:rPr lang="en-US" sz="1050"/>
                        <a:t>72643</a:t>
                      </a:r>
                    </a:p>
                  </a:txBody>
                  <a:tcPr anchor="ctr"/>
                </a:tc>
                <a:tc>
                  <a:txBody>
                    <a:bodyPr/>
                    <a:lstStyle/>
                    <a:p>
                      <a:pPr>
                        <a:buNone/>
                      </a:pPr>
                      <a:r>
                        <a:rPr lang="en-US" sz="1050"/>
                        <a:t>69056</a:t>
                      </a:r>
                    </a:p>
                  </a:txBody>
                  <a:tcPr anchor="ctr"/>
                </a:tc>
                <a:tc>
                  <a:txBody>
                    <a:bodyPr/>
                    <a:lstStyle/>
                    <a:p>
                      <a:pPr>
                        <a:buNone/>
                      </a:pPr>
                      <a:r>
                        <a:rPr lang="en-US" sz="1050"/>
                        <a:t>76230</a:t>
                      </a:r>
                    </a:p>
                  </a:txBody>
                  <a:tcPr anchor="ctr"/>
                </a:tc>
                <a:tc>
                  <a:txBody>
                    <a:bodyPr/>
                    <a:lstStyle/>
                    <a:p>
                      <a:pPr>
                        <a:buNone/>
                      </a:pPr>
                      <a:r>
                        <a:rPr lang="en-US" sz="1050" dirty="0"/>
                        <a:t>10.3</a:t>
                      </a:r>
                    </a:p>
                  </a:txBody>
                  <a:tcPr anchor="ctr"/>
                </a:tc>
                <a:extLst>
                  <a:ext uri="{0D108BD9-81ED-4DB2-BD59-A6C34878D82A}">
                    <a16:rowId xmlns:a16="http://schemas.microsoft.com/office/drawing/2014/main" val="4279050954"/>
                  </a:ext>
                </a:extLst>
              </a:tr>
              <a:tr h="270328">
                <a:tc>
                  <a:txBody>
                    <a:bodyPr/>
                    <a:lstStyle/>
                    <a:p>
                      <a:pPr>
                        <a:buNone/>
                      </a:pPr>
                      <a:r>
                        <a:rPr lang="en-US" sz="1050" dirty="0"/>
                        <a:t>Arizona</a:t>
                      </a:r>
                    </a:p>
                  </a:txBody>
                  <a:tcPr anchor="ctr"/>
                </a:tc>
                <a:tc>
                  <a:txBody>
                    <a:bodyPr/>
                    <a:lstStyle/>
                    <a:p>
                      <a:pPr>
                        <a:buNone/>
                      </a:pPr>
                      <a:r>
                        <a:rPr lang="en-US" sz="1050" dirty="0"/>
                        <a:t>1206948</a:t>
                      </a:r>
                    </a:p>
                  </a:txBody>
                  <a:tcPr anchor="ctr"/>
                </a:tc>
                <a:tc>
                  <a:txBody>
                    <a:bodyPr/>
                    <a:lstStyle/>
                    <a:p>
                      <a:pPr>
                        <a:buNone/>
                      </a:pPr>
                      <a:r>
                        <a:rPr lang="en-US" sz="1050" dirty="0"/>
                        <a:t>1184107</a:t>
                      </a:r>
                    </a:p>
                  </a:txBody>
                  <a:tcPr anchor="ctr"/>
                </a:tc>
                <a:tc>
                  <a:txBody>
                    <a:bodyPr/>
                    <a:lstStyle/>
                    <a:p>
                      <a:r>
                        <a:rPr lang="en-US" sz="1050" dirty="0"/>
                        <a:t>1229789</a:t>
                      </a:r>
                    </a:p>
                  </a:txBody>
                  <a:tcPr/>
                </a:tc>
                <a:tc>
                  <a:txBody>
                    <a:bodyPr/>
                    <a:lstStyle/>
                    <a:p>
                      <a:r>
                        <a:rPr lang="en-US" sz="1050" dirty="0"/>
                        <a:t>18.0</a:t>
                      </a:r>
                    </a:p>
                  </a:txBody>
                  <a:tcPr/>
                </a:tc>
                <a:extLst>
                  <a:ext uri="{0D108BD9-81ED-4DB2-BD59-A6C34878D82A}">
                    <a16:rowId xmlns:a16="http://schemas.microsoft.com/office/drawing/2014/main" val="4279636316"/>
                  </a:ext>
                </a:extLst>
              </a:tr>
              <a:tr h="270328">
                <a:tc>
                  <a:txBody>
                    <a:bodyPr/>
                    <a:lstStyle/>
                    <a:p>
                      <a:r>
                        <a:rPr lang="en-US" sz="1050" dirty="0"/>
                        <a:t>Arkansas</a:t>
                      </a:r>
                    </a:p>
                  </a:txBody>
                  <a:tcPr/>
                </a:tc>
                <a:tc>
                  <a:txBody>
                    <a:bodyPr/>
                    <a:lstStyle/>
                    <a:p>
                      <a:r>
                        <a:rPr lang="en-US" sz="1050" dirty="0"/>
                        <a:t>568858</a:t>
                      </a:r>
                    </a:p>
                  </a:txBody>
                  <a:tcPr/>
                </a:tc>
                <a:tc>
                  <a:txBody>
                    <a:bodyPr/>
                    <a:lstStyle/>
                    <a:p>
                      <a:r>
                        <a:rPr lang="en-US" sz="1050" dirty="0"/>
                        <a:t>554766</a:t>
                      </a:r>
                    </a:p>
                  </a:txBody>
                  <a:tcPr/>
                </a:tc>
                <a:tc>
                  <a:txBody>
                    <a:bodyPr/>
                    <a:lstStyle/>
                    <a:p>
                      <a:r>
                        <a:rPr lang="en-US" sz="1050" dirty="0"/>
                        <a:t>582950</a:t>
                      </a:r>
                    </a:p>
                  </a:txBody>
                  <a:tcPr/>
                </a:tc>
                <a:tc>
                  <a:txBody>
                    <a:bodyPr/>
                    <a:lstStyle/>
                    <a:p>
                      <a:r>
                        <a:rPr lang="en-US" sz="1050" dirty="0"/>
                        <a:t>18.7</a:t>
                      </a:r>
                    </a:p>
                  </a:txBody>
                  <a:tcPr/>
                </a:tc>
                <a:extLst>
                  <a:ext uri="{0D108BD9-81ED-4DB2-BD59-A6C34878D82A}">
                    <a16:rowId xmlns:a16="http://schemas.microsoft.com/office/drawing/2014/main" val="12920262"/>
                  </a:ext>
                </a:extLst>
              </a:tr>
            </a:tbl>
          </a:graphicData>
        </a:graphic>
      </p:graphicFrame>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dirty="0"/>
              <a:t>Dataset </a:t>
            </a:r>
            <a:r>
              <a:rPr lang="en-US" dirty="0">
                <a:solidFill>
                  <a:srgbClr val="203232"/>
                </a:solidFill>
              </a:rPr>
              <a:t>ID</a:t>
            </a:r>
            <a:r>
              <a:rPr lang="en-US" sz="1600" dirty="0">
                <a:solidFill>
                  <a:srgbClr val="FF0000"/>
                </a:solidFill>
              </a:rPr>
              <a:t>: DS 305  est13us</a:t>
            </a:r>
            <a:r>
              <a:rPr lang="en-US" sz="2400" dirty="0">
                <a:solidFill>
                  <a:srgbClr val="FF0000"/>
                </a:solidFill>
              </a:rPr>
              <a:t>)</a:t>
            </a: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670981"/>
            <a:ext cx="10612024" cy="230832"/>
          </a:xfrm>
        </p:spPr>
        <p:txBody>
          <a:bodyPr/>
          <a:lstStyle/>
          <a:p>
            <a:r>
              <a:rPr lang="en-GB" dirty="0"/>
              <a:t>7COM1079-2025  Student Group No:    B 167                              Names of Student Group Attendees:  Balaji Gopalakrishnan , Sandeep Kumar, Kondru Sai Sreeja.</a:t>
            </a:r>
          </a:p>
          <a:p>
            <a:endParaRPr lang="en-GB" dirty="0"/>
          </a:p>
          <a:p>
            <a:endParaRPr lang="en-GB" dirty="0"/>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1698305"/>
            <a:ext cx="10974945" cy="2699181"/>
          </a:xfrm>
        </p:spPr>
        <p:txBody>
          <a:bodyPr>
            <a:noAutofit/>
          </a:bodyPr>
          <a:lstStyle/>
          <a:p>
            <a:pPr>
              <a:lnSpc>
                <a:spcPct val="100000"/>
              </a:lnSpc>
            </a:pPr>
            <a:r>
              <a:rPr lang="en-US" sz="2400" b="0" dirty="0">
                <a:latin typeface="Calibri"/>
                <a:cs typeface="Calibri"/>
              </a:rPr>
              <a:t>This dataset is interesting to us because </a:t>
            </a:r>
            <a:r>
              <a:rPr lang="en-US" sz="1800" dirty="0"/>
              <a:t>it allows us to compare poverty levels across U.S. states and examine whether overall poverty rates are related to poverty rates among young children aged 0–4.</a:t>
            </a:r>
            <a:br>
              <a:rPr lang="en-US" sz="1800" dirty="0"/>
            </a:br>
            <a:br>
              <a:rPr lang="en-US" sz="1800" b="0" dirty="0">
                <a:latin typeface="Calibri" panose="020F0502020204030204" pitchFamily="34" charset="0"/>
                <a:cs typeface="Calibri" panose="020F0502020204030204" pitchFamily="34" charset="0"/>
              </a:rPr>
            </a:br>
            <a:r>
              <a:rPr lang="en-US" sz="2400" b="0" dirty="0">
                <a:latin typeface="Calibri" panose="020F0502020204030204" pitchFamily="34" charset="0"/>
                <a:cs typeface="Calibri" panose="020F0502020204030204" pitchFamily="34" charset="0"/>
              </a:rPr>
              <a:t>We chose </a:t>
            </a:r>
            <a:r>
              <a:rPr lang="en-US" sz="2400" b="0" i="1" dirty="0">
                <a:solidFill>
                  <a:schemeClr val="accent2">
                    <a:lumMod val="75000"/>
                  </a:schemeClr>
                </a:solidFill>
                <a:latin typeface="Calibri"/>
                <a:cs typeface="Calibri"/>
              </a:rPr>
              <a:t>ONE independent * and ONE dependent variable. </a:t>
            </a:r>
            <a:br>
              <a:rPr lang="en-US" sz="2400" b="0" i="1" dirty="0">
                <a:solidFill>
                  <a:schemeClr val="accent2">
                    <a:lumMod val="75000"/>
                  </a:schemeClr>
                </a:solidFill>
                <a:latin typeface="Calibri"/>
                <a:cs typeface="Calibri"/>
              </a:rPr>
            </a:br>
            <a:br>
              <a:rPr lang="en-US" sz="2400" b="0" dirty="0">
                <a:latin typeface="Calibri" panose="020F0502020204030204" pitchFamily="34" charset="0"/>
                <a:cs typeface="Calibri" panose="020F0502020204030204" pitchFamily="34" charset="0"/>
              </a:rPr>
            </a:br>
            <a:r>
              <a:rPr lang="en-US" sz="2400" b="0" dirty="0">
                <a:latin typeface="Calibri"/>
                <a:cs typeface="Calibri"/>
              </a:rPr>
              <a:t>Our  Independent variable is: </a:t>
            </a:r>
            <a:r>
              <a:rPr lang="en-US" sz="2000" dirty="0"/>
              <a:t>Poverty Percent, All Ages</a:t>
            </a:r>
            <a:br>
              <a:rPr lang="en-US" sz="2400" b="0" dirty="0">
                <a:latin typeface="Calibri"/>
                <a:cs typeface="Calibri"/>
              </a:rPr>
            </a:br>
            <a:r>
              <a:rPr lang="en-US" sz="2400" b="0" dirty="0">
                <a:latin typeface="Calibri"/>
                <a:cs typeface="Calibri"/>
              </a:rPr>
              <a:t>This  Independent variable datatype is :  </a:t>
            </a:r>
            <a:r>
              <a:rPr lang="en-US" sz="2400" dirty="0"/>
              <a:t> </a:t>
            </a:r>
            <a:r>
              <a:rPr lang="en-US" sz="2000" dirty="0"/>
              <a:t>Ratio / Measurement data</a:t>
            </a:r>
            <a:br>
              <a:rPr lang="en-US" sz="2400" b="0" dirty="0">
                <a:latin typeface="Calibri"/>
                <a:cs typeface="Calibri"/>
              </a:rPr>
            </a:br>
            <a:r>
              <a:rPr lang="en-US" sz="2400" b="0" dirty="0">
                <a:latin typeface="Calibri"/>
                <a:cs typeface="Calibri"/>
              </a:rPr>
              <a:t>Our Dependent variable is: </a:t>
            </a:r>
            <a:r>
              <a:rPr lang="en-US" sz="2400" b="0" dirty="0">
                <a:solidFill>
                  <a:srgbClr val="FF0000"/>
                </a:solidFill>
                <a:latin typeface="Calibri"/>
                <a:cs typeface="Calibri"/>
              </a:rPr>
              <a:t> </a:t>
            </a:r>
            <a:r>
              <a:rPr lang="en-US" sz="2000" dirty="0"/>
              <a:t>Poverty Percent, Age 0–4</a:t>
            </a:r>
            <a:r>
              <a:rPr lang="en-US" sz="2000" b="0" dirty="0">
                <a:solidFill>
                  <a:srgbClr val="FF0000"/>
                </a:solidFill>
                <a:latin typeface="Calibri"/>
                <a:cs typeface="Calibri"/>
              </a:rPr>
              <a:t>    </a:t>
            </a:r>
            <a:r>
              <a:rPr lang="en-US" sz="2400" b="0" dirty="0">
                <a:solidFill>
                  <a:srgbClr val="FF0000"/>
                </a:solidFill>
                <a:latin typeface="Calibri"/>
                <a:cs typeface="Calibri"/>
              </a:rPr>
              <a:t>             </a:t>
            </a:r>
            <a:br>
              <a:rPr lang="en-US" sz="2400" b="0" dirty="0">
                <a:solidFill>
                  <a:srgbClr val="FF0000"/>
                </a:solidFill>
                <a:latin typeface="Calibri"/>
                <a:cs typeface="Calibri"/>
              </a:rPr>
            </a:br>
            <a:r>
              <a:rPr lang="en-US" sz="2400" b="0" dirty="0">
                <a:solidFill>
                  <a:srgbClr val="FF0000"/>
                </a:solidFill>
                <a:latin typeface="Calibri"/>
                <a:cs typeface="Calibri"/>
              </a:rPr>
              <a:t> </a:t>
            </a:r>
            <a:r>
              <a:rPr lang="en-US" sz="2400" b="0" dirty="0">
                <a:latin typeface="Calibri"/>
                <a:cs typeface="Calibri"/>
              </a:rPr>
              <a:t>This Dependent variable datatype is  :  </a:t>
            </a:r>
            <a:r>
              <a:rPr lang="en-US" sz="2000" dirty="0">
                <a:latin typeface="Calibri"/>
                <a:cs typeface="Calibri"/>
              </a:rPr>
              <a:t>Ratio</a:t>
            </a:r>
            <a:r>
              <a:rPr lang="en-US" sz="2000" dirty="0"/>
              <a:t> / Measurement data</a:t>
            </a:r>
            <a:endParaRPr lang="en-US" sz="2000" b="0" dirty="0">
              <a:solidFill>
                <a:srgbClr val="FF0000"/>
              </a:solidFill>
              <a:latin typeface="Calibri"/>
              <a:cs typeface="Calibri"/>
            </a:endParaRP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dirty="0"/>
              <a:t>Our Research Question is</a:t>
            </a:r>
            <a:endParaRPr lang="en-GB" sz="1800" dirty="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B 167</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623945" y="1893914"/>
            <a:ext cx="10981938" cy="2678085"/>
          </a:xfrm>
        </p:spPr>
        <p:txBody>
          <a:bodyPr>
            <a:noAutofit/>
          </a:bodyPr>
          <a:lstStyle/>
          <a:p>
            <a:pPr>
              <a:lnSpc>
                <a:spcPct val="100000"/>
              </a:lnSpc>
            </a:pPr>
            <a:r>
              <a:rPr lang="en-IE" sz="2400" dirty="0">
                <a:effectLst/>
                <a:latin typeface="Calibri"/>
                <a:ea typeface="Calibri" panose="020F0502020204030204" pitchFamily="34" charset="0"/>
                <a:cs typeface="Times New Roman"/>
              </a:rPr>
              <a:t>Template </a:t>
            </a:r>
            <a:r>
              <a:rPr lang="en-IE" sz="2400" baseline="30000" dirty="0">
                <a:effectLst/>
                <a:latin typeface="Calibri"/>
                <a:ea typeface="Calibri" panose="020F0502020204030204" pitchFamily="34" charset="0"/>
                <a:cs typeface="Times New Roman"/>
              </a:rPr>
              <a:t>1</a:t>
            </a:r>
            <a:r>
              <a:rPr lang="en-IE" sz="2400" dirty="0">
                <a:effectLst/>
                <a:latin typeface="Calibri"/>
                <a:ea typeface="Calibri" panose="020F0502020204030204" pitchFamily="34" charset="0"/>
                <a:cs typeface="Times New Roman"/>
              </a:rPr>
              <a:t>: </a:t>
            </a:r>
            <a:r>
              <a:rPr lang="en-IE" sz="2400" b="0" dirty="0">
                <a:effectLst/>
                <a:latin typeface="Calibri"/>
                <a:ea typeface="Calibri" panose="020F0502020204030204" pitchFamily="34" charset="0"/>
                <a:cs typeface="Times New Roman"/>
              </a:rPr>
              <a:t>Interval/Ordinal vs Interval/Ordinal:  </a:t>
            </a: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br>
              <a:rPr lang="en-IE" sz="2400" b="0" dirty="0">
                <a:effectLst/>
                <a:latin typeface="Calibri"/>
                <a:ea typeface="Calibri" panose="020F0502020204030204" pitchFamily="34" charset="0"/>
                <a:cs typeface="Times New Roman"/>
              </a:rPr>
            </a:br>
            <a:r>
              <a:rPr lang="en-IE" sz="2400" b="0" dirty="0">
                <a:effectLst/>
                <a:latin typeface="Calibri"/>
                <a:ea typeface="Calibri" panose="020F0502020204030204" pitchFamily="34" charset="0"/>
                <a:cs typeface="Times New Roman"/>
              </a:rPr>
              <a:t>“Is there a correlation between </a:t>
            </a:r>
            <a:r>
              <a:rPr lang="en-IE" sz="2400" b="0" dirty="0">
                <a:solidFill>
                  <a:srgbClr val="0070C0"/>
                </a:solidFill>
                <a:effectLst/>
                <a:latin typeface="Calibri"/>
                <a:ea typeface="Calibri" panose="020F0502020204030204" pitchFamily="34" charset="0"/>
                <a:cs typeface="Times New Roman"/>
              </a:rPr>
              <a:t>[Poverty percent, Age 0-4] </a:t>
            </a:r>
            <a:r>
              <a:rPr lang="en-IE" sz="2400" b="0" dirty="0">
                <a:effectLst/>
                <a:latin typeface="Calibri"/>
                <a:ea typeface="Calibri" panose="020F0502020204030204" pitchFamily="34" charset="0"/>
                <a:cs typeface="Times New Roman"/>
              </a:rPr>
              <a:t>and </a:t>
            </a:r>
            <a:r>
              <a:rPr lang="en-IE" sz="2400" b="0" dirty="0">
                <a:solidFill>
                  <a:srgbClr val="0070C0"/>
                </a:solidFill>
                <a:effectLst/>
                <a:latin typeface="Calibri"/>
                <a:ea typeface="Calibri" panose="020F0502020204030204" pitchFamily="34" charset="0"/>
                <a:cs typeface="Times New Roman"/>
              </a:rPr>
              <a:t>[Poverty percent, All ages?]”</a:t>
            </a:r>
            <a:r>
              <a:rPr lang="en-IE" sz="2400" b="0" dirty="0">
                <a:effectLst/>
                <a:latin typeface="Calibri"/>
                <a:ea typeface="Calibri" panose="020F0502020204030204" pitchFamily="34" charset="0"/>
                <a:cs typeface="Times New Roman"/>
              </a:rPr>
              <a:t>. </a:t>
            </a:r>
            <a:br>
              <a:rPr lang="en-IE" sz="2400" b="0" dirty="0">
                <a:effectLst/>
                <a:latin typeface="Calibri"/>
                <a:ea typeface="Calibri" panose="020F0502020204030204" pitchFamily="34" charset="0"/>
                <a:cs typeface="Times New Roman"/>
              </a:rPr>
            </a:br>
            <a:br>
              <a:rPr lang="en-IE" sz="2400" b="0" dirty="0">
                <a:solidFill>
                  <a:schemeClr val="accent2"/>
                </a:solidFill>
                <a:effectLst/>
                <a:latin typeface="Calibri"/>
                <a:ea typeface="Calibri" panose="020F0502020204030204" pitchFamily="34" charset="0"/>
                <a:cs typeface="Times New Roman"/>
              </a:rPr>
            </a:br>
            <a:r>
              <a:rPr lang="en-US" sz="1800" dirty="0">
                <a:solidFill>
                  <a:schemeClr val="accent2"/>
                </a:solidFill>
              </a:rPr>
              <a:t>Poverty Percent, Age 0–4</a:t>
            </a:r>
            <a:r>
              <a:rPr lang="en-US" sz="1800" dirty="0"/>
              <a:t>: Ratio</a:t>
            </a:r>
            <a:br>
              <a:rPr lang="en-US" sz="1800" b="0" dirty="0">
                <a:latin typeface="Calibri"/>
                <a:ea typeface="Calibri" panose="020F0502020204030204" pitchFamily="34" charset="0"/>
                <a:cs typeface="Times New Roman"/>
              </a:rPr>
            </a:br>
            <a:r>
              <a:rPr lang="en-US" sz="1800" dirty="0">
                <a:solidFill>
                  <a:schemeClr val="accent2"/>
                </a:solidFill>
              </a:rPr>
              <a:t>Poverty Percent, All Ages</a:t>
            </a:r>
            <a:r>
              <a:rPr lang="en-US" sz="1800" dirty="0"/>
              <a:t>: Ratio</a:t>
            </a:r>
            <a:br>
              <a:rPr lang="en-IE" sz="2400" dirty="0">
                <a:effectLst/>
                <a:latin typeface="Calibri" panose="020F0502020204030204" pitchFamily="34" charset="0"/>
                <a:ea typeface="Calibri" panose="020F0502020204030204" pitchFamily="34" charset="0"/>
                <a:cs typeface="Times New Roman" panose="02020603050405020304" pitchFamily="18" charset="0"/>
              </a:rPr>
            </a:br>
            <a:br>
              <a:rPr lang="en-IE" sz="2400" dirty="0">
                <a:effectLst/>
                <a:latin typeface="Calibri" panose="020F0502020204030204" pitchFamily="34" charset="0"/>
                <a:ea typeface="Calibri" panose="020F0502020204030204" pitchFamily="34" charset="0"/>
                <a:cs typeface="Times New Roman" panose="02020603050405020304" pitchFamily="18" charset="0"/>
              </a:rPr>
            </a:br>
            <a:endParaRPr lang="en-GB" sz="2400" dirty="0">
              <a:solidFill>
                <a:srgbClr val="FF0000"/>
              </a:solidFill>
            </a:endParaRPr>
          </a:p>
        </p:txBody>
      </p:sp>
    </p:spTree>
    <p:extLst>
      <p:ext uri="{BB962C8B-B14F-4D97-AF65-F5344CB8AC3E}">
        <p14:creationId xmlns:p14="http://schemas.microsoft.com/office/powerpoint/2010/main" val="32494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521219" y="284375"/>
            <a:ext cx="10406581" cy="1391600"/>
          </a:xfrm>
        </p:spPr>
        <p:txBody>
          <a:bodyPr vert="horz" lIns="0" tIns="0" rIns="0" bIns="0" rtlCol="0" anchor="t">
            <a:noAutofit/>
          </a:bodyPr>
          <a:lstStyle/>
          <a:p>
            <a:pPr marL="457200" indent="-457200">
              <a:lnSpc>
                <a:spcPct val="100000"/>
              </a:lnSpc>
              <a:buAutoNum type="arabicPeriod"/>
            </a:pPr>
            <a:endParaRPr lang="en-GB" sz="2000" b="0" dirty="0">
              <a:latin typeface="Arial"/>
              <a:cs typeface="Arial"/>
            </a:endParaRPr>
          </a:p>
          <a:p>
            <a:pPr marL="457200" indent="-457200">
              <a:lnSpc>
                <a:spcPct val="100000"/>
              </a:lnSpc>
              <a:buAutoNum type="arabicPeriod"/>
            </a:pPr>
            <a:endParaRPr lang="en-GB" sz="2000" b="0" dirty="0">
              <a:latin typeface="Arial"/>
              <a:cs typeface="Arial"/>
            </a:endParaRPr>
          </a:p>
          <a:p>
            <a:pPr marL="457200" indent="-457200">
              <a:lnSpc>
                <a:spcPct val="100000"/>
              </a:lnSpc>
              <a:buAutoNum type="arabicPeriod"/>
            </a:pPr>
            <a:endParaRPr lang="en-GB" sz="2000" b="0" dirty="0">
              <a:latin typeface="Arial"/>
              <a:cs typeface="Arial"/>
            </a:endParaRPr>
          </a:p>
          <a:p>
            <a:pPr marL="457200" indent="-457200">
              <a:lnSpc>
                <a:spcPct val="100000"/>
              </a:lnSpc>
              <a:buAutoNum type="arabicPeriod"/>
            </a:pPr>
            <a:endParaRPr lang="en-GB" sz="2000" b="0" dirty="0">
              <a:latin typeface="Arial"/>
              <a:cs typeface="Arial"/>
            </a:endParaRPr>
          </a:p>
          <a:p>
            <a:pPr marL="457200" indent="-457200">
              <a:lnSpc>
                <a:spcPct val="100000"/>
              </a:lnSpc>
              <a:buAutoNum type="arabicPeriod"/>
            </a:pPr>
            <a:r>
              <a:rPr lang="en-GB" sz="2000" b="0" dirty="0">
                <a:latin typeface="Arial"/>
                <a:cs typeface="Arial"/>
              </a:rPr>
              <a:t>Null hypothesis (H</a:t>
            </a:r>
            <a:r>
              <a:rPr lang="en-GB" sz="2000" b="0" baseline="-25000" dirty="0">
                <a:latin typeface="Arial"/>
                <a:cs typeface="Arial"/>
              </a:rPr>
              <a:t>0</a:t>
            </a:r>
            <a:r>
              <a:rPr lang="en-GB" sz="2000" b="0" dirty="0">
                <a:latin typeface="Arial"/>
                <a:cs typeface="Arial"/>
              </a:rPr>
              <a:t>): There is </a:t>
            </a:r>
            <a:r>
              <a:rPr lang="en-GB" sz="2000" dirty="0">
                <a:latin typeface="Arial"/>
                <a:cs typeface="Arial"/>
              </a:rPr>
              <a:t>no </a:t>
            </a:r>
            <a:r>
              <a:rPr lang="en-GB" sz="2000" b="0" dirty="0">
                <a:latin typeface="Arial"/>
                <a:cs typeface="Arial"/>
              </a:rPr>
              <a:t>effect on the population – so you write one of the following:  </a:t>
            </a:r>
          </a:p>
          <a:p>
            <a:pPr>
              <a:lnSpc>
                <a:spcPct val="100000"/>
              </a:lnSpc>
            </a:pPr>
            <a:r>
              <a:rPr lang="en-GB" sz="2000" b="0" dirty="0">
                <a:solidFill>
                  <a:srgbClr val="FF0000"/>
                </a:solidFill>
                <a:latin typeface="Arial"/>
                <a:cs typeface="Arial"/>
              </a:rPr>
              <a:t>Null hypothesis (H</a:t>
            </a:r>
            <a:r>
              <a:rPr lang="en-GB" sz="2000" b="0" baseline="-25000" dirty="0">
                <a:solidFill>
                  <a:srgbClr val="FF0000"/>
                </a:solidFill>
                <a:latin typeface="Arial"/>
                <a:cs typeface="Arial"/>
              </a:rPr>
              <a:t>0</a:t>
            </a:r>
            <a:r>
              <a:rPr lang="en-GB" sz="2000" b="0" dirty="0">
                <a:solidFill>
                  <a:srgbClr val="FF0000"/>
                </a:solidFill>
                <a:latin typeface="Arial"/>
                <a:cs typeface="Arial"/>
              </a:rPr>
              <a:t>): </a:t>
            </a:r>
            <a:r>
              <a:rPr lang="en-US" sz="2000" b="0" dirty="0">
                <a:solidFill>
                  <a:srgbClr val="FF0000"/>
                </a:solidFill>
              </a:rPr>
              <a:t>There is no correlation between Poverty Percent (Age 0–4) and Poverty Percent (All Ages).</a:t>
            </a:r>
            <a:endParaRPr lang="en-GB" sz="2000" b="0" dirty="0">
              <a:solidFill>
                <a:srgbClr val="FF0000"/>
              </a:solidFill>
              <a:latin typeface="Arial"/>
              <a:cs typeface="Arial"/>
            </a:endParaRPr>
          </a:p>
          <a:p>
            <a:pPr>
              <a:lnSpc>
                <a:spcPct val="100000"/>
              </a:lnSpc>
            </a:pPr>
            <a:r>
              <a:rPr lang="en-GB" sz="2000" b="0" dirty="0">
                <a:latin typeface="Arial"/>
                <a:cs typeface="Arial"/>
              </a:rPr>
              <a:t>2. Alternative hypothesis (H</a:t>
            </a:r>
            <a:r>
              <a:rPr lang="en-GB" sz="2000" b="0" baseline="-25000" dirty="0">
                <a:latin typeface="Arial"/>
                <a:cs typeface="Arial"/>
              </a:rPr>
              <a:t>1</a:t>
            </a:r>
            <a:r>
              <a:rPr lang="en-GB" sz="2000" b="0" dirty="0">
                <a:latin typeface="Arial"/>
                <a:cs typeface="Arial"/>
              </a:rPr>
              <a:t>):  There appears to be an effect on the population –</a:t>
            </a:r>
          </a:p>
          <a:p>
            <a:pPr>
              <a:lnSpc>
                <a:spcPct val="100000"/>
              </a:lnSpc>
            </a:pPr>
            <a:r>
              <a:rPr lang="en-GB" sz="2000" b="0" dirty="0">
                <a:solidFill>
                  <a:srgbClr val="FF0000"/>
                </a:solidFill>
                <a:latin typeface="Arial"/>
                <a:cs typeface="Arial"/>
              </a:rPr>
              <a:t>Alt hypothesis (H</a:t>
            </a:r>
            <a:r>
              <a:rPr lang="en-GB" sz="2000" b="0" baseline="-25000" dirty="0">
                <a:solidFill>
                  <a:srgbClr val="FF0000"/>
                </a:solidFill>
                <a:latin typeface="Arial"/>
                <a:cs typeface="Arial"/>
              </a:rPr>
              <a:t>1</a:t>
            </a:r>
            <a:r>
              <a:rPr lang="en-GB" sz="2000" b="0" dirty="0">
                <a:solidFill>
                  <a:srgbClr val="FF0000"/>
                </a:solidFill>
                <a:latin typeface="Arial"/>
                <a:cs typeface="Arial"/>
              </a:rPr>
              <a:t>): </a:t>
            </a:r>
            <a:r>
              <a:rPr lang="en-US" sz="2000" b="0" dirty="0">
                <a:solidFill>
                  <a:srgbClr val="FF0000"/>
                </a:solidFill>
              </a:rPr>
              <a:t>There is a correlation between Poverty Percent (Age 0–4) and Poverty Percent (All Ages).</a:t>
            </a:r>
            <a:endParaRPr lang="en-GB" sz="2000" b="0" dirty="0">
              <a:solidFill>
                <a:srgbClr val="FF0000"/>
              </a:solidFill>
              <a:latin typeface="Arial"/>
              <a:cs typeface="Arial"/>
            </a:endParaRPr>
          </a:p>
        </p:txBody>
      </p:sp>
      <p:sp>
        <p:nvSpPr>
          <p:cNvPr id="4" name="Slide Number Placeholder 3">
            <a:extLst>
              <a:ext uri="{FF2B5EF4-FFF2-40B4-BE49-F238E27FC236}">
                <a16:creationId xmlns:a16="http://schemas.microsoft.com/office/drawing/2014/main" id="{FF7EDF94-2B89-A21D-BBC0-E455C2D9893B}"/>
              </a:ext>
            </a:extLst>
          </p:cNvPr>
          <p:cNvSpPr>
            <a:spLocks noGrp="1"/>
          </p:cNvSpPr>
          <p:nvPr>
            <p:ph type="sldNum" sz="quarter" idx="12"/>
          </p:nvPr>
        </p:nvSpPr>
        <p:spPr>
          <a:xfrm>
            <a:off x="11269543" y="284375"/>
            <a:ext cx="558281" cy="221244"/>
          </a:xfrm>
        </p:spPr>
        <p:txBody>
          <a:bodyPr/>
          <a:lstStyle/>
          <a:p>
            <a:r>
              <a:rPr lang="en-US"/>
              <a:t>4</a:t>
            </a:r>
            <a:endParaRPr lang="en-GB"/>
          </a:p>
        </p:txBody>
      </p:sp>
      <p:sp>
        <p:nvSpPr>
          <p:cNvPr id="9" name="Footer Placeholder 2">
            <a:extLst>
              <a:ext uri="{FF2B5EF4-FFF2-40B4-BE49-F238E27FC236}">
                <a16:creationId xmlns:a16="http://schemas.microsoft.com/office/drawing/2014/main" id="{03D81C51-A5AF-AD41-9BE1-5FD32D1054EC}"/>
              </a:ext>
            </a:extLst>
          </p:cNvPr>
          <p:cNvSpPr>
            <a:spLocks noGrp="1"/>
          </p:cNvSpPr>
          <p:nvPr>
            <p:ph type="ftr" sz="quarter" idx="11"/>
          </p:nvPr>
        </p:nvSpPr>
        <p:spPr>
          <a:xfrm>
            <a:off x="965289" y="791022"/>
            <a:ext cx="7176911" cy="230832"/>
          </a:xfrm>
        </p:spPr>
        <p:txBody>
          <a:bodyPr/>
          <a:lstStyle/>
          <a:p>
            <a:r>
              <a:rPr lang="en-GB" dirty="0"/>
              <a:t>PRE 7COM1079-2025  Student Group No:  B 167</a:t>
            </a:r>
          </a:p>
        </p:txBody>
      </p:sp>
    </p:spTree>
    <p:extLst>
      <p:ext uri="{BB962C8B-B14F-4D97-AF65-F5344CB8AC3E}">
        <p14:creationId xmlns:p14="http://schemas.microsoft.com/office/powerpoint/2010/main" val="295233847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53</TotalTime>
  <Words>617</Words>
  <Application>Microsoft Office PowerPoint</Application>
  <PresentationFormat>Widescreen</PresentationFormat>
  <Paragraphs>66</Paragraphs>
  <Slides>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Herts Theme</vt:lpstr>
      <vt:lpstr>Research Question –  Tutorial Presentation for Feedback Date:  24 – 11-2025 </vt:lpstr>
      <vt:lpstr>State, Poverty Percent are the columns that we chose. 5 rows of the data       53 Obs. of 30 variables.   </vt:lpstr>
      <vt:lpstr>This dataset is interesting to us because it allows us to compare poverty levels across U.S. states and examine whether overall poverty rates are related to poverty rates among young children aged 0–4.  We chose ONE independent * and ONE dependent variable.   Our  Independent variable is: Poverty Percent, All Ages This  Independent variable datatype is :   Ratio / Measurement data Our Dependent variable is:  Poverty Percent, Age 0–4                   This Dependent variable datatype is  :  Ratio / Measurement data</vt:lpstr>
      <vt:lpstr>Template 1: Interval/Ordinal vs Interval/Ordinal:     “Is there a correlation between [Poverty percent, Age 0-4] and [Poverty percent, All ages?]”.   Poverty Percent, Age 0–4: Ratio Poverty Percent, All Ages: Ratio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srija kondru</cp:lastModifiedBy>
  <cp:revision>117</cp:revision>
  <dcterms:created xsi:type="dcterms:W3CDTF">2019-10-01T08:37:56Z</dcterms:created>
  <dcterms:modified xsi:type="dcterms:W3CDTF">2025-11-24T14:12:14Z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